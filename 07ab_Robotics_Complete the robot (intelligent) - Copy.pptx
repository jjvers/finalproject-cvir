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672" r:id="rId2"/>
    <p:sldId id="314" r:id="rId3"/>
    <p:sldId id="626" r:id="rId4"/>
    <p:sldId id="317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827"/>
    <a:srgbClr val="213E7B"/>
    <a:srgbClr val="E82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85755" autoAdjust="0"/>
  </p:normalViewPr>
  <p:slideViewPr>
    <p:cSldViewPr snapToGrid="0">
      <p:cViewPr varScale="1">
        <p:scale>
          <a:sx n="73" d="100"/>
          <a:sy n="73" d="100"/>
        </p:scale>
        <p:origin x="807" y="2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3C88A-B357-4AB4-8BF3-A9DD2712E5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E8BB7-0B50-485A-B708-A453A987C6A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55808-5B87-4D65-8044-51ADA963D365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6DE1A-E361-4FF8-AB46-F24C62C2552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"/>
          <p:cNvSpPr/>
          <p:nvPr/>
        </p:nvSpPr>
        <p:spPr>
          <a:xfrm>
            <a:off x="0" y="6400800"/>
            <a:ext cx="9849853" cy="457200"/>
          </a:xfrm>
          <a:prstGeom prst="rect">
            <a:avLst/>
          </a:prstGeom>
          <a:solidFill>
            <a:srgbClr val="213E7B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	Where tomorrow’s leaders come together</a:t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9849853" y="6400801"/>
            <a:ext cx="2342147" cy="457200"/>
          </a:xfrm>
          <a:prstGeom prst="rect">
            <a:avLst/>
          </a:prstGeom>
          <a:solidFill>
            <a:srgbClr val="E82F36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president.ac.id</a:t>
            </a:r>
            <a:endParaRPr/>
          </a:p>
        </p:txBody>
      </p:sp>
      <p:pic>
        <p:nvPicPr>
          <p:cNvPr id="265" name="Google Shape;265;p10" descr="Data Science Qualifications | Big Data Professional Qualifications | DASC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0249" y="1425390"/>
            <a:ext cx="831502" cy="94236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 txBox="1">
            <a:spLocks noGrp="1"/>
          </p:cNvSpPr>
          <p:nvPr>
            <p:ph type="ctrTitle"/>
          </p:nvPr>
        </p:nvSpPr>
        <p:spPr>
          <a:xfrm>
            <a:off x="1524000" y="254508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5400" dirty="0"/>
              <a:t>Robotics</a:t>
            </a:r>
            <a:br>
              <a:rPr lang="en-US" sz="5400" dirty="0"/>
            </a:br>
            <a:r>
              <a:rPr lang="en-US" sz="3600" dirty="0"/>
              <a:t>Final Project (</a:t>
            </a:r>
            <a:r>
              <a:rPr lang="en-US" sz="3600"/>
              <a:t>Smart System)– </a:t>
            </a:r>
            <a:r>
              <a:rPr lang="en-US" sz="3600" dirty="0"/>
              <a:t>Week 13,14</a:t>
            </a:r>
            <a:br>
              <a:rPr lang="en-US" sz="5400" dirty="0"/>
            </a:br>
            <a:br>
              <a:rPr lang="en-US" sz="5400" dirty="0"/>
            </a:br>
            <a:r>
              <a:rPr lang="en-US" sz="3200" dirty="0"/>
              <a:t>Dr. Deffa </a:t>
            </a:r>
            <a:r>
              <a:rPr lang="en-US" sz="3200" dirty="0" err="1"/>
              <a:t>Rahadiyan</a:t>
            </a:r>
            <a:r>
              <a:rPr lang="en-US" sz="3200" dirty="0"/>
              <a:t>, </a:t>
            </a:r>
            <a:r>
              <a:rPr lang="en-US" sz="3200" dirty="0" err="1"/>
              <a:t>S.Si</a:t>
            </a:r>
            <a:r>
              <a:rPr lang="en-US" sz="3200" dirty="0"/>
              <a:t>.</a:t>
            </a:r>
            <a:endParaRPr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921CA-3C7B-5EE6-1B6D-02B9A338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Project Grading Rubrics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BC192-95B1-5D92-3A7A-F351A6B05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780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Develop </a:t>
            </a:r>
            <a:r>
              <a:rPr lang="en-US" b="1"/>
              <a:t>a Smart-System 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(70 points):</a:t>
            </a:r>
          </a:p>
          <a:p>
            <a:pPr marL="0" indent="0" algn="l">
              <a:buNone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Hardware implementation </a:t>
            </a:r>
            <a:r>
              <a:rPr lang="en-US" b="1" i="1" dirty="0">
                <a:solidFill>
                  <a:srgbClr val="0D0D0D"/>
                </a:solidFill>
                <a:effectLst/>
                <a:latin typeface="Söhne"/>
              </a:rPr>
              <a:t>(10 points)</a:t>
            </a:r>
          </a:p>
          <a:p>
            <a:pPr algn="just"/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Implement min 2 different sensor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1" i="1" dirty="0">
                <a:solidFill>
                  <a:srgbClr val="0D0D0D"/>
                </a:solidFill>
                <a:effectLst/>
                <a:latin typeface="Söhne"/>
              </a:rPr>
              <a:t>(</a:t>
            </a:r>
            <a:r>
              <a:rPr lang="en-US" b="1" i="1" dirty="0">
                <a:solidFill>
                  <a:srgbClr val="0D0D0D"/>
                </a:solidFill>
                <a:latin typeface="Söhne"/>
              </a:rPr>
              <a:t>10</a:t>
            </a:r>
            <a:r>
              <a:rPr lang="en-US" b="1" i="1" dirty="0">
                <a:solidFill>
                  <a:srgbClr val="0D0D0D"/>
                </a:solidFill>
                <a:effectLst/>
                <a:latin typeface="Söhne"/>
              </a:rPr>
              <a:t> points)</a:t>
            </a:r>
            <a:r>
              <a:rPr lang="en-US" b="1" i="1" dirty="0">
                <a:solidFill>
                  <a:srgbClr val="0D0D0D"/>
                </a:solidFill>
                <a:latin typeface="Söhne"/>
              </a:rPr>
              <a:t>, </a:t>
            </a:r>
            <a:endParaRPr lang="en-US" b="1" i="1" dirty="0">
              <a:solidFill>
                <a:srgbClr val="0D0D0D"/>
              </a:solidFill>
              <a:effectLst/>
              <a:latin typeface="Söhne"/>
            </a:endParaRPr>
          </a:p>
          <a:p>
            <a:pPr algn="just"/>
            <a:r>
              <a:rPr lang="en-US" dirty="0">
                <a:solidFill>
                  <a:srgbClr val="0D0D0D"/>
                </a:solidFill>
                <a:latin typeface="Söhne"/>
              </a:rPr>
              <a:t>I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mplement min 2 types of actuator </a:t>
            </a:r>
            <a:r>
              <a:rPr lang="en-US" b="1" i="1" dirty="0">
                <a:solidFill>
                  <a:srgbClr val="0D0D0D"/>
                </a:solidFill>
                <a:effectLst/>
                <a:latin typeface="Söhne"/>
              </a:rPr>
              <a:t>(10 points)</a:t>
            </a:r>
          </a:p>
          <a:p>
            <a:pPr algn="just"/>
            <a:r>
              <a:rPr lang="en-US" dirty="0">
                <a:solidFill>
                  <a:srgbClr val="0D0D0D"/>
                </a:solidFill>
                <a:latin typeface="Söhne"/>
              </a:rPr>
              <a:t>Implement Computer Vision </a:t>
            </a:r>
            <a:r>
              <a:rPr lang="en-US" b="1" i="1" dirty="0">
                <a:solidFill>
                  <a:srgbClr val="0D0D0D"/>
                </a:solidFill>
                <a:latin typeface="Söhne"/>
              </a:rPr>
              <a:t>(30 points)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using custom dataset, </a:t>
            </a:r>
          </a:p>
          <a:p>
            <a:pPr marL="0" indent="0" algn="just">
              <a:buNone/>
            </a:pP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	- 1 model </a:t>
            </a:r>
            <a:r>
              <a:rPr lang="en-US" i="1" dirty="0">
                <a:solidFill>
                  <a:srgbClr val="0D0D0D"/>
                </a:solidFill>
                <a:effectLst/>
                <a:latin typeface="Söhne"/>
              </a:rPr>
              <a:t>(10 points), 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2 models </a:t>
            </a:r>
            <a:r>
              <a:rPr lang="en-US" i="1" dirty="0">
                <a:solidFill>
                  <a:srgbClr val="0D0D0D"/>
                </a:solidFill>
                <a:effectLst/>
                <a:latin typeface="Söhne"/>
              </a:rPr>
              <a:t>(20 points)</a:t>
            </a:r>
          </a:p>
          <a:p>
            <a:pPr marL="0" indent="0" algn="just">
              <a:buNone/>
            </a:pPr>
            <a:r>
              <a:rPr lang="en-US" i="1" dirty="0">
                <a:solidFill>
                  <a:srgbClr val="0D0D0D"/>
                </a:solidFill>
                <a:effectLst/>
                <a:latin typeface="Söhne"/>
              </a:rPr>
              <a:t>	- </a:t>
            </a:r>
            <a:r>
              <a:rPr lang="en-US" dirty="0">
                <a:solidFill>
                  <a:srgbClr val="0D0D0D"/>
                </a:solidFill>
                <a:effectLst/>
                <a:latin typeface="Söhne"/>
              </a:rPr>
              <a:t>Custom dataset </a:t>
            </a:r>
            <a:r>
              <a:rPr lang="en-US" i="1" dirty="0">
                <a:solidFill>
                  <a:srgbClr val="0D0D0D"/>
                </a:solidFill>
                <a:effectLst/>
                <a:latin typeface="Söhne"/>
              </a:rPr>
              <a:t>(10 points)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UI and human interaction </a:t>
            </a:r>
            <a:r>
              <a:rPr lang="en-US" b="1" i="1" dirty="0">
                <a:solidFill>
                  <a:srgbClr val="0D0D0D"/>
                </a:solidFill>
                <a:latin typeface="Söhne"/>
              </a:rPr>
              <a:t>(5 points)</a:t>
            </a:r>
          </a:p>
          <a:p>
            <a:pPr algn="just"/>
            <a:r>
              <a:rPr lang="en-US" dirty="0">
                <a:solidFill>
                  <a:srgbClr val="0D0D0D"/>
                </a:solidFill>
                <a:latin typeface="Söhne"/>
              </a:rPr>
              <a:t>The robot is running well </a:t>
            </a:r>
            <a:r>
              <a:rPr lang="en-US" b="1" i="1" dirty="0">
                <a:solidFill>
                  <a:srgbClr val="0D0D0D"/>
                </a:solidFill>
                <a:latin typeface="Söhne"/>
              </a:rPr>
              <a:t>(5 points)</a:t>
            </a:r>
            <a:endParaRPr lang="en-US" b="0" i="1" dirty="0">
              <a:solidFill>
                <a:srgbClr val="0D0D0D"/>
              </a:solidFill>
              <a:effectLst/>
              <a:latin typeface="Söhne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pic>
        <p:nvPicPr>
          <p:cNvPr id="4" name="Picture 2" descr="Academic Scholarship at President University in Indonesia, 2017">
            <a:extLst>
              <a:ext uri="{FF2B5EF4-FFF2-40B4-BE49-F238E27FC236}">
                <a16:creationId xmlns:a16="http://schemas.microsoft.com/office/drawing/2014/main" id="{3C13E10B-FDA9-4711-9725-D6836717A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693" y="142976"/>
            <a:ext cx="3433011" cy="622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B531D2-1074-4976-82F9-A6F8F7984F67}"/>
              </a:ext>
            </a:extLst>
          </p:cNvPr>
          <p:cNvSpPr/>
          <p:nvPr/>
        </p:nvSpPr>
        <p:spPr>
          <a:xfrm>
            <a:off x="0" y="6400800"/>
            <a:ext cx="9849853" cy="457200"/>
          </a:xfrm>
          <a:prstGeom prst="rect">
            <a:avLst/>
          </a:prstGeom>
          <a:solidFill>
            <a:srgbClr val="213E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	Where tomorrow’s leaders come together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82AD3D-E388-448F-92C5-45C8BBF5C194}"/>
              </a:ext>
            </a:extLst>
          </p:cNvPr>
          <p:cNvSpPr/>
          <p:nvPr/>
        </p:nvSpPr>
        <p:spPr>
          <a:xfrm>
            <a:off x="9849853" y="6400801"/>
            <a:ext cx="2342147" cy="457200"/>
          </a:xfrm>
          <a:prstGeom prst="rect">
            <a:avLst/>
          </a:prstGeom>
          <a:solidFill>
            <a:srgbClr val="E82F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president.ac.id</a:t>
            </a:r>
          </a:p>
        </p:txBody>
      </p:sp>
    </p:spTree>
    <p:extLst>
      <p:ext uri="{BB962C8B-B14F-4D97-AF65-F5344CB8AC3E}">
        <p14:creationId xmlns:p14="http://schemas.microsoft.com/office/powerpoint/2010/main" val="300320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6615E-B4A2-F539-57DA-5E8049CA0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Project Grading Rubrics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3963E-91A1-027B-C7DC-BE03E604F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28419"/>
          </a:xfrm>
        </p:spPr>
        <p:txBody>
          <a:bodyPr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Documentation 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  <a:sym typeface="Wingdings" panose="05000000000000000000" pitchFamily="2" charset="2"/>
              </a:rPr>
              <a:t> scientific article 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(20 points) : (each group will have different format, I will decide the article format after the group do presentation)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Introduction/ Background (3 points):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Clear description of the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autonomous mobile robot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problem statement, project's purpose and goals.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Materials and Methods (7 points):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contains a materials that you used, then flowchart/ workflow, and detail explanation of each step of the final project scenario. Starting from the software and hardware, implementation, troubleshooting, until testing.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Results and discussion (7 points):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Comprehensive explanation about the result (image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/video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and explanation what it is)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Conclusion (3 points): 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contains conclusions in the form of results and how the proposed method can solve the problem, as well as future works (limitation)</a:t>
            </a:r>
            <a:endParaRPr lang="en-ID" dirty="0"/>
          </a:p>
        </p:txBody>
      </p:sp>
      <p:pic>
        <p:nvPicPr>
          <p:cNvPr id="4" name="Picture 2" descr="Academic Scholarship at President University in Indonesia, 2017">
            <a:extLst>
              <a:ext uri="{FF2B5EF4-FFF2-40B4-BE49-F238E27FC236}">
                <a16:creationId xmlns:a16="http://schemas.microsoft.com/office/drawing/2014/main" id="{7AC2504C-9B7D-4C01-90A7-A58A72620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693" y="142976"/>
            <a:ext cx="3433011" cy="622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34570C3-1A2B-48EC-9423-C87F0B23D415}"/>
              </a:ext>
            </a:extLst>
          </p:cNvPr>
          <p:cNvSpPr/>
          <p:nvPr/>
        </p:nvSpPr>
        <p:spPr>
          <a:xfrm>
            <a:off x="0" y="6400800"/>
            <a:ext cx="9849853" cy="457200"/>
          </a:xfrm>
          <a:prstGeom prst="rect">
            <a:avLst/>
          </a:prstGeom>
          <a:solidFill>
            <a:srgbClr val="213E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	Where tomorrow’s leaders come together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BABA6A-04B1-43D7-99A1-0B189BA5FC62}"/>
              </a:ext>
            </a:extLst>
          </p:cNvPr>
          <p:cNvSpPr/>
          <p:nvPr/>
        </p:nvSpPr>
        <p:spPr>
          <a:xfrm>
            <a:off x="9849853" y="6400801"/>
            <a:ext cx="2342147" cy="457200"/>
          </a:xfrm>
          <a:prstGeom prst="rect">
            <a:avLst/>
          </a:prstGeom>
          <a:solidFill>
            <a:srgbClr val="E82F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president.ac.id</a:t>
            </a:r>
          </a:p>
        </p:txBody>
      </p:sp>
    </p:spTree>
    <p:extLst>
      <p:ext uri="{BB962C8B-B14F-4D97-AF65-F5344CB8AC3E}">
        <p14:creationId xmlns:p14="http://schemas.microsoft.com/office/powerpoint/2010/main" val="3580011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7EE0D-0EF0-6DEF-DE87-40B1DA198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Final Project Grading Rubrics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E114A-6C55-2067-EBB5-9AA476C31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DEMO (10 points):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Delivery (</a:t>
            </a:r>
            <a:r>
              <a:rPr lang="en-US" b="1" dirty="0">
                <a:solidFill>
                  <a:srgbClr val="0D0D0D"/>
                </a:solidFill>
                <a:latin typeface="Söhne"/>
              </a:rPr>
              <a:t>5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 points):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Clear and informative explanation of the project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Q&amp;A Session (</a:t>
            </a:r>
            <a:r>
              <a:rPr lang="en-US" b="1" dirty="0">
                <a:solidFill>
                  <a:srgbClr val="0D0D0D"/>
                </a:solidFill>
                <a:latin typeface="Söhne"/>
              </a:rPr>
              <a:t>5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 points):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Ability to answer questions about the project and address feedback.</a:t>
            </a:r>
          </a:p>
          <a:p>
            <a:endParaRPr lang="en-ID" dirty="0"/>
          </a:p>
        </p:txBody>
      </p:sp>
      <p:pic>
        <p:nvPicPr>
          <p:cNvPr id="4" name="Picture 2" descr="Academic Scholarship at President University in Indonesia, 2017">
            <a:extLst>
              <a:ext uri="{FF2B5EF4-FFF2-40B4-BE49-F238E27FC236}">
                <a16:creationId xmlns:a16="http://schemas.microsoft.com/office/drawing/2014/main" id="{32DEA824-7FC8-4897-84B7-6418D52A3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693" y="142976"/>
            <a:ext cx="3433011" cy="622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E99BA4-DC4B-4376-A623-4FE86CABDD05}"/>
              </a:ext>
            </a:extLst>
          </p:cNvPr>
          <p:cNvSpPr/>
          <p:nvPr/>
        </p:nvSpPr>
        <p:spPr>
          <a:xfrm>
            <a:off x="0" y="6400800"/>
            <a:ext cx="9849853" cy="457200"/>
          </a:xfrm>
          <a:prstGeom prst="rect">
            <a:avLst/>
          </a:prstGeom>
          <a:solidFill>
            <a:srgbClr val="213E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	Where tomorrow’s leaders come together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3006F-0189-427B-87F5-2B83EF2EC949}"/>
              </a:ext>
            </a:extLst>
          </p:cNvPr>
          <p:cNvSpPr/>
          <p:nvPr/>
        </p:nvSpPr>
        <p:spPr>
          <a:xfrm>
            <a:off x="9849853" y="6400801"/>
            <a:ext cx="2342147" cy="457200"/>
          </a:xfrm>
          <a:prstGeom prst="rect">
            <a:avLst/>
          </a:prstGeom>
          <a:solidFill>
            <a:srgbClr val="E82F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president.ac.id</a:t>
            </a:r>
          </a:p>
        </p:txBody>
      </p:sp>
    </p:spTree>
    <p:extLst>
      <p:ext uri="{BB962C8B-B14F-4D97-AF65-F5344CB8AC3E}">
        <p14:creationId xmlns:p14="http://schemas.microsoft.com/office/powerpoint/2010/main" val="2611282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853" y="2433788"/>
            <a:ext cx="9144000" cy="1328068"/>
          </a:xfrm>
        </p:spPr>
        <p:txBody>
          <a:bodyPr>
            <a:normAutofit/>
          </a:bodyPr>
          <a:lstStyle/>
          <a:p>
            <a:r>
              <a:rPr lang="en-US" sz="4400" b="1" dirty="0"/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849853" cy="457200"/>
          </a:xfrm>
          <a:prstGeom prst="rect">
            <a:avLst/>
          </a:prstGeom>
          <a:solidFill>
            <a:srgbClr val="213E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	When tomorrow’s leaders come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849853" y="6400801"/>
            <a:ext cx="2342147" cy="457200"/>
          </a:xfrm>
          <a:prstGeom prst="rect">
            <a:avLst/>
          </a:prstGeom>
          <a:solidFill>
            <a:srgbClr val="E82F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president.ac.id</a:t>
            </a:r>
          </a:p>
        </p:txBody>
      </p:sp>
      <p:sp>
        <p:nvSpPr>
          <p:cNvPr id="6" name="Rectangle 5"/>
          <p:cNvSpPr/>
          <p:nvPr/>
        </p:nvSpPr>
        <p:spPr>
          <a:xfrm flipH="1">
            <a:off x="7154513" y="1207168"/>
            <a:ext cx="45719" cy="4443663"/>
          </a:xfrm>
          <a:prstGeom prst="rect">
            <a:avLst/>
          </a:prstGeom>
          <a:ln>
            <a:solidFill>
              <a:srgbClr val="213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Data Science Qualifications | Big Data Professional Qualifications | DAS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410" y="1966094"/>
            <a:ext cx="3395184" cy="226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3290</TotalTime>
  <Words>358</Words>
  <Application>Microsoft Office PowerPoint</Application>
  <PresentationFormat>Widescreen</PresentationFormat>
  <Paragraphs>33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Söhne</vt:lpstr>
      <vt:lpstr>Office Theme</vt:lpstr>
      <vt:lpstr>Robotics Final Project (Smart System)– Week 13,14  Dr. Deffa Rahadiyan, S.Si.</vt:lpstr>
      <vt:lpstr>Final Project Grading Rubrics</vt:lpstr>
      <vt:lpstr>Final Project Grading Rubrics</vt:lpstr>
      <vt:lpstr>Final Project Grading Rubrics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deffa rahadiyan</dc:creator>
  <cp:lastModifiedBy>Novian Hadinata</cp:lastModifiedBy>
  <cp:revision>120</cp:revision>
  <cp:lastPrinted>2024-06-21T08:49:18Z</cp:lastPrinted>
  <dcterms:created xsi:type="dcterms:W3CDTF">2023-10-17T02:01:00Z</dcterms:created>
  <dcterms:modified xsi:type="dcterms:W3CDTF">2026-04-02T01:47:43Z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60690A8600E54316ABD286215F25C5F2_12</vt:lpwstr>
  </property>
  <property fmtid="{D5CDD505-2E9C-101B-9397-08002B2CF9AE}" pid="3" name="KSOProductBuildVer">
    <vt:lpwstr>1033-12.2.0.13359</vt:lpwstr>
  </property>
</Properties>
</file>